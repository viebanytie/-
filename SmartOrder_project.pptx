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ea6d523340d4c43" Type="http://schemas.openxmlformats.org/package/2006/relationships/metadata/core-properties" Target="docProps/core.xml"/><Relationship Id="R6893de39446e48b5" Type="http://schemas.openxmlformats.org/officeDocument/2006/relationships/extended-properties" Target="docProps/app.xml"/><Relationship Id="R7adea75a95c1462a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c79167bc8a452a"/>
  </p:sldMasterIdLst>
  <p:notesMasterIdLst>
    <p:notesMasterId xmlns:r="http://schemas.openxmlformats.org/officeDocument/2006/relationships" r:id="R057ad6af0f98467e"/>
  </p:notesMasterIdLst>
  <p:sldIdLst>
    <p:sldId xmlns:r="http://schemas.openxmlformats.org/officeDocument/2006/relationships" id="256" r:id="R8357bcc7a3f34089"/>
    <p:sldId xmlns:r="http://schemas.openxmlformats.org/officeDocument/2006/relationships" id="257" r:id="R59da024039904a49"/>
    <p:sldId xmlns:r="http://schemas.openxmlformats.org/officeDocument/2006/relationships" id="258" r:id="R37eb3821d2e3482b"/>
    <p:sldId xmlns:r="http://schemas.openxmlformats.org/officeDocument/2006/relationships" id="259" r:id="R90280ac9ccee4385"/>
    <p:sldId xmlns:r="http://schemas.openxmlformats.org/officeDocument/2006/relationships" id="260" r:id="R2c367a7165f248a7"/>
    <p:sldId xmlns:r="http://schemas.openxmlformats.org/officeDocument/2006/relationships" id="261" r:id="R1107bdf305244a34"/>
    <p:sldId xmlns:r="http://schemas.openxmlformats.org/officeDocument/2006/relationships" id="262" r:id="R772b09811ff74cfd"/>
    <p:sldId xmlns:r="http://schemas.openxmlformats.org/officeDocument/2006/relationships" id="263" r:id="Re986cc11feea46d0"/>
    <p:sldId xmlns:r="http://schemas.openxmlformats.org/officeDocument/2006/relationships" id="264" r:id="R5dbdcab10b1b45cb"/>
    <p:sldId xmlns:r="http://schemas.openxmlformats.org/officeDocument/2006/relationships" id="265" r:id="R2cab646db980431b"/>
    <p:sldId xmlns:r="http://schemas.openxmlformats.org/officeDocument/2006/relationships" id="266" r:id="R5f593783aedb49e3"/>
    <p:sldId xmlns:r="http://schemas.openxmlformats.org/officeDocument/2006/relationships" id="267" r:id="Rf5dda97279e44e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7ad6af0f98467e" Type="http://schemas.openxmlformats.org/officeDocument/2006/relationships/notesMaster" Target="notesMasters/notesMaster1.xml"/><Relationship Id="R08b71944e19a460b" Type="http://schemas.openxmlformats.org/officeDocument/2006/relationships/presProps" Target="presProps.xml"/><Relationship Id="R1107bdf305244a34" Type="http://schemas.openxmlformats.org/officeDocument/2006/relationships/slide" Target="slides/slide6.xml"/><Relationship Id="R2c367a7165f248a7" Type="http://schemas.openxmlformats.org/officeDocument/2006/relationships/slide" Target="slides/slide5.xml"/><Relationship Id="R2cab646db980431b" Type="http://schemas.openxmlformats.org/officeDocument/2006/relationships/slide" Target="slides/slide10.xml"/><Relationship Id="R2ddf32e245164931" Type="http://schemas.openxmlformats.org/officeDocument/2006/relationships/tableStyles" Target="tableStyles.xml"/><Relationship Id="R37eb3821d2e3482b" Type="http://schemas.openxmlformats.org/officeDocument/2006/relationships/slide" Target="slides/slide3.xml"/><Relationship Id="R59da024039904a49" Type="http://schemas.openxmlformats.org/officeDocument/2006/relationships/slide" Target="slides/slide2.xml"/><Relationship Id="R5dbdcab10b1b45cb" Type="http://schemas.openxmlformats.org/officeDocument/2006/relationships/slide" Target="slides/slide9.xml"/><Relationship Id="R5f593783aedb49e3" Type="http://schemas.openxmlformats.org/officeDocument/2006/relationships/slide" Target="slides/slide11.xml"/><Relationship Id="R6dc79167bc8a452a" Type="http://schemas.openxmlformats.org/officeDocument/2006/relationships/slideMaster" Target="slideMasters/slideMaster1.xml"/><Relationship Id="R772b09811ff74cfd" Type="http://schemas.openxmlformats.org/officeDocument/2006/relationships/slide" Target="slides/slide7.xml"/><Relationship Id="R8357bcc7a3f34089" Type="http://schemas.openxmlformats.org/officeDocument/2006/relationships/slide" Target="slides/slide1.xml"/><Relationship Id="R90280ac9ccee4385" Type="http://schemas.openxmlformats.org/officeDocument/2006/relationships/slide" Target="slides/slide4.xml"/><Relationship Id="Rabab75cae4154a26" Type="http://schemas.openxmlformats.org/officeDocument/2006/relationships/theme" Target="theme/theme1.xml"/><Relationship Id="Re986cc11feea46d0" Type="http://schemas.openxmlformats.org/officeDocument/2006/relationships/slide" Target="slides/slide8.xml"/><Relationship Id="Rf5dda97279e44eef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4d603d541bbe435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24ede2fda054ef7" Type="http://schemas.openxmlformats.org/officeDocument/2006/relationships/notesMaster" Target="../notesMasters/notesMaster1.xml"/><Relationship Id="Racbe4bca25df4aa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63e335f62974c4e" Type="http://schemas.openxmlformats.org/officeDocument/2006/relationships/slide" Target="../slides/slide2.xml"/><Relationship Id="R48cd5aa0fe5b4a7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be94c1edb1e42a9" Type="http://schemas.openxmlformats.org/officeDocument/2006/relationships/notesMaster" Target="../notesMasters/notesMaster1.xml"/><Relationship Id="R580b1a9f2f5a4eab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122cee2f2524b89" Type="http://schemas.openxmlformats.org/officeDocument/2006/relationships/notesMaster" Target="../notesMasters/notesMaster1.xml"/><Relationship Id="Rce4b94eb7e5d404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770913944a1c4985" Type="http://schemas.openxmlformats.org/officeDocument/2006/relationships/notesMaster" Target="../notesMasters/notesMaster1.xml"/><Relationship Id="Rc5965fb1a77e4275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9a45103d4ee433d" Type="http://schemas.openxmlformats.org/officeDocument/2006/relationships/notesMaster" Target="../notesMasters/notesMaster1.xml"/><Relationship Id="R5333b5c390dc490d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71eec9354274f71" Type="http://schemas.openxmlformats.org/officeDocument/2006/relationships/notesMaster" Target="../notesMasters/notesMaster1.xml"/><Relationship Id="Rd7e8d4fec8b74749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fa9637091aa407a" Type="http://schemas.openxmlformats.org/officeDocument/2006/relationships/notesMaster" Target="../notesMasters/notesMaster1.xml"/><Relationship Id="R580cbc82bb514fe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5c72c1924ca4456" Type="http://schemas.openxmlformats.org/officeDocument/2006/relationships/slide" Target="../slides/slide9.xml"/><Relationship Id="R96597fcd110449c4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27f29cf2f7094388" Type="http://schemas.openxmlformats.org/officeDocument/2006/relationships/slide" Target="../slides/slide10.xml"/><Relationship Id="Rbc7278c6e9484a06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fe4566ae2d54e21" Type="http://schemas.openxmlformats.org/officeDocument/2006/relationships/slide" Target="../slides/slide11.xml"/><Relationship Id="Re799140e34b444f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f9517a2e7c2432e" Type="http://schemas.openxmlformats.org/officeDocument/2006/relationships/notesMaster" Target="../notesMasters/notesMaster1.xml"/><Relationship Id="Rded93f52c0964c42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Smart Order, Enterprise Edition, версия 1.0. Программа предназначена для формирования нарядов на работу и анализа зарегистрированной выработки. Powered by OITS&amp;ZI · Copyright © 2026. На слайдах с интерфейсом используются вымышленные демонстрационные данные.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пользователь производственной части — мастер. Работники перечислены в нарядах и сами в приложение не входят. Оплата рассчитывается из введённых значений и тарифов. Экономический эффект или неподтверждённые показатели внедрения в этой презентации не заявляются.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авторизации выбирается доступный цех. При сохранении правки создаётся следующая версия: например, 1 → 1.1. Аналитика производства использует последнюю версию, поэтому правки не увеличивают объём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Пространства: Упаковка, Коптильный, Сушка, Сычужный, Сыр цех и Адыгейский. Сыр цех и Адыгейский — разные цеха. Мастер Упаковка работает в Упаковке. Коптильный и Сушка доступны соответствующим мастерам взаимно; Сычужный и Сыр цех — взаимно. Адыгейский мастер работает в Адыгейском. Администратор, Бухгалтер и Экономист имеют доступ ко всем цехам; аналитика доступна только этим трём ролям.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вкладке «Наряд» находятся период, мастер, смена и подразделение; кнопки создания, редактирования и экспорта; список нарядов и история правок. Столбцы автоматически получают удобную ширину. Светлая и тёмная темы доступны во всём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ФИКС итоговый вес — произведение количества коробок и веса коробки. Поле ФАКТ может иметь единицу часы, килограммы или штуки. В показатель «ФАКТ часы» входят только работы с единицей часы. «ФАКТ Оплата» объединяет рассчитанную оплату ФИКС и ФАКТ; исходные компоненты сохраняются в базе. Общий фактически поступивший вес сырья отдельно не регистрируется: существующая аналитика объёмов построена по введённым строкам.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Справочники принадлежат своим цехам. Изменение учётных записей и ролей выполняет администратор. Журнал действий фильтруется по пользователю и датам. Диагностика показывает активные экземпляры приложения и разные логины. Резервная копия базы и файл отдельного наряда выполняют разные функции.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Запуск выполняется через SmartOrder.exe. Лаунчер проверяет и копирует интерфейс в локальный кеш, а общие базы остаются в сети. Базы: work_orders_ypak.db, work_orders_koptil.db, work_orders_sushka.db, work_orders_sychug.db, work_orders_syr.db, work_orders_adyg.db. Общие логины и сеансы — identity.db. Синхронизация примерно каждые 1,5 секунды зависит от скорости сети. Пять независимых процессов проверены на локальной файловой системе Linux; блокировки SMB требуют проверки в рабочей Windows-среде.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Файлы находятся в сетевом корне, например: Наряды/Упаковка/2026-10/08/Наряд № 1.1.sorder. Публикация выполняется в фоне после сохранения в базе. Для двойного щелчка установщик регистрирует .sorder на ПК. Актуальная версия открывается для правки при наличии прав и свободной блокировки; предыдущая — для просмотра. Уведомления нужны мастерам и сами не всплывают. Сеансы относятся к фактическим пользователям приложения, а не к работникам нарядов.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Аналитика показывает наряды, введённые часы, ФИКС кг, ФАКТ часы и объединённую ФАКТ Оплату. Есть Min–Max по дням, месяцам, годам и выбранному периоду; численность сотрудников по выходам; детализация по работам и подразделениям. Профиль сотрудника имеет динамический пятиугольный график: в программе он реагирует на курсор и выбор показателя. Показатели профиля относительны сотрудникам выбранного отчёта. Масштаб отключён только во вкладке «Аналитика», тема продолжает работать.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Наряд выгружается из списка либо из редактора. Аналитика экспортирует выбранный срез в Excel, с исходной детализацией и при необходимости с редактируемыми диаграммами. Возможен отдельный отчёт сотрудника или производственного среза. Изображение иллюстрирует интерфейс аналитики; данные вымышленные.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 остаются на сервере. На каждом компьютере запускается Install_and_Start_SmartOrder.cmd для ярлыка и ассоциации .sorder. Перед заменой файлов приложения рабочие базы сохраняют. UPDATE_NEWS.txt в новой поставке пустой: открытые окна новостей читают изменения примерно раз в секунду. Редактирование через Edit_Update_News.cmd запрашивает администратора Windows; системный администратор настраивает NTFS-права. Для сборки используются BUILD.cmd и прежняя папка ресурсов. Готовый запуск: release/SmartOrderApp/SmartOrder.exe.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432ae81ba254a93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c2e8f1e82f5f4a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5431cc258d08448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511511b864e4cf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84e2cd402cd43c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a49ddc8e4aaf4ce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A0269-18F9-46C2-BAB2-1AB3F2388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9D72FD-8281-4BE9-B40B-67B2CE37EF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EA3D21-8599-43F8-BFA4-ED02AA0231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04EA6D-04F2-46C9-B853-FE35EDA3F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E270C8-CF19-48A2-AFEB-B779E650AE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8A3798-C602-4DD2-8C80-314B89A85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0129AB-0173-47B5-BDA8-2D4034EB05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464294-3179-4616-9BAE-DA98FDD3FE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EE5919-C558-4752-9695-2D0B673FF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875A08-5A29-4B54-B177-DC4DB78E05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f430b93d4c5456c" Type="http://schemas.openxmlformats.org/officeDocument/2006/relationships/slideLayout" Target="../slideLayouts/slideLayout3.xml"/><Relationship Id="R404c5ff8aa6b4728" Type="http://schemas.openxmlformats.org/officeDocument/2006/relationships/slideLayout" Target="../slideLayouts/slideLayout5.xml"/><Relationship Id="R65a5a00884ff4947" Type="http://schemas.openxmlformats.org/officeDocument/2006/relationships/slideLayout" Target="../slideLayouts/slideLayout1.xml"/><Relationship Id="R74a5729c0e8a4567" Type="http://schemas.openxmlformats.org/officeDocument/2006/relationships/slideLayout" Target="../slideLayouts/slideLayout6.xml"/><Relationship Id="R82c3d931bc124099" Type="http://schemas.openxmlformats.org/officeDocument/2006/relationships/theme" Target="theme/theme2.xml"/><Relationship Id="Rb9b5bdb68ccc4b63" Type="http://schemas.openxmlformats.org/officeDocument/2006/relationships/slideLayout" Target="../slideLayouts/slideLayout4.xml"/><Relationship Id="Re6e682e361d749ba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a5a00884ff4947"/>
    <p:sldLayoutId xmlns:r="http://schemas.openxmlformats.org/officeDocument/2006/relationships" id="2147483650" r:id="Re6e682e361d749ba"/>
    <p:sldLayoutId xmlns:r="http://schemas.openxmlformats.org/officeDocument/2006/relationships" id="2147483651" r:id="R2f430b93d4c5456c"/>
    <p:sldLayoutId xmlns:r="http://schemas.openxmlformats.org/officeDocument/2006/relationships" id="2147483652" r:id="Rb9b5bdb68ccc4b63"/>
    <p:sldLayoutId xmlns:r="http://schemas.openxmlformats.org/officeDocument/2006/relationships" id="2147483653" r:id="R404c5ff8aa6b4728"/>
    <p:sldLayoutId xmlns:r="http://schemas.openxmlformats.org/officeDocument/2006/relationships" id="2147483654" r:id="R74a5729c0e8a45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85225c5321742e8" Type="http://schemas.openxmlformats.org/officeDocument/2006/relationships/notesSlide" Target="../notesSlides/notesSlide1.xml"/><Relationship Id="Ra5cb5836967b4044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252c375125364c15" Type="http://schemas.openxmlformats.org/officeDocument/2006/relationships/slideLayout" Target="../slideLayouts/slideLayout6.xml"/><Relationship Id="R3adbd58d0f1e40a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a7fee26099c4206" Type="http://schemas.openxmlformats.org/officeDocument/2006/relationships/slideLayout" Target="../slideLayouts/slideLayout6.xml"/><Relationship Id="Rfe866b7967be433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6b51cee16ea479f" Type="http://schemas.openxmlformats.org/officeDocument/2006/relationships/slideLayout" Target="../slideLayouts/slideLayout6.xml"/><Relationship Id="R47ef92daef534d3a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8193ac1e0ea24fdd" Type="http://schemas.openxmlformats.org/officeDocument/2006/relationships/notesSlide" Target="../notesSlides/notesSlide5.xml"/><Relationship Id="Rdf302de8ccad4007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2a21d65ee508448d" Type="http://schemas.openxmlformats.org/officeDocument/2006/relationships/slideLayout" Target="../slideLayouts/slideLayout6.xml"/><Relationship Id="Rc69050e2f904482b" Type="http://schemas.openxmlformats.org/officeDocument/2006/relationships/notesSlide" Target="../notesSlides/notesSlide6.xml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440e418e1c5d4ef6" Type="http://schemas.openxmlformats.org/officeDocument/2006/relationships/slideLayout" Target="../slideLayouts/slideLayout6.xml"/><Relationship Id="R8ca2ee06b40c439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e2e40696ca4647e3" Type="http://schemas.openxmlformats.org/officeDocument/2006/relationships/slideLayout" Target="../slideLayouts/slideLayout6.xml"/><Relationship Id="Rea0760c0447a421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62d5aef3dd34198" Type="http://schemas.openxmlformats.org/officeDocument/2006/relationships/slideLayout" Target="../slideLayouts/slideLayout6.xml"/><Relationship Id="Reb9aa6579d194d9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d930273275e84374" Type="http://schemas.openxmlformats.org/officeDocument/2006/relationships/slideLayout" Target="../slideLayouts/slideLayout6.xml"/><Relationship Id="Rf6dda74282214ada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8239092b3f2e42a4" Type="http://schemas.openxmlformats.org/officeDocument/2006/relationships/slideLayout" Target="../slideLayouts/slideLayout6.xml"/><Relationship Id="Rff7df625625e414b" Type="http://schemas.openxmlformats.org/officeDocument/2006/relationships/notesSlide" Target="../notesSlides/notesSlide11.xml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63b62e2d8e11463a" Type="http://schemas.openxmlformats.org/officeDocument/2006/relationships/slideLayout" Target="../slideLayouts/slideLayout6.xml"/><Relationship Id="Rfe75bc682eb34b97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MART ORDER · ENTERPRISE EDITION 1.0">
            <a:extLst xmlns:a="http://schemas.openxmlformats.org/drawingml/2006/main">
              <a:ext uri="{FF2B5EF4-FFF2-40B4-BE49-F238E27FC236}">
                <a16:creationId xmlns:a16="http://schemas.microsoft.com/office/drawing/2014/main" id="{F4F4C708-6713-495F-A6CF-3B9134C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76D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76D6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6D6FF"/>
                </a:solidFill>
                <a:latin typeface="Arial"/>
                <a:ea typeface="Arial"/>
                <a:cs typeface="Arial"/>
              </a:rPr>
              <a:t>SMART ORDER · ENTERPRISE EDITION 1.0</a:t>
            </a:r>
          </a:p>
        </p:txBody>
      </p:sp>
      <p:sp>
        <p:nvSpPr>
          <p:cNvPr id="2" name="Формирование">
            <a:extLst xmlns:a="http://schemas.openxmlformats.org/drawingml/2006/main">
              <a:ext uri="{FF2B5EF4-FFF2-40B4-BE49-F238E27FC236}">
                <a16:creationId xmlns:a16="http://schemas.microsoft.com/office/drawing/2014/main" id="{2F90FAD0-CA2D-4043-BBE1-D28EAD6C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76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Формирование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нарядов на работу</a:t>
            </a:r>
          </a:p>
        </p:txBody>
      </p:sp>
      <p:sp>
        <p:nvSpPr>
          <p:cNvPr id="3" name="Учёт работ, выработки и оплаты">
            <a:extLst xmlns:a="http://schemas.openxmlformats.org/drawingml/2006/main">
              <a:ext uri="{FF2B5EF4-FFF2-40B4-BE49-F238E27FC236}">
                <a16:creationId xmlns:a16="http://schemas.microsoft.com/office/drawing/2014/main" id="{027CC85F-A887-4722-8E8F-8179CC1E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3E4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D3E4E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D3E4EE"/>
                </a:solidFill>
                <a:latin typeface="Arial"/>
                <a:ea typeface="Arial"/>
                <a:cs typeface="Arial"/>
              </a:rPr>
              <a:t>Учёт работ, выработки и оплаты</a:t>
            </a:r>
          </a:p>
          <a:p xmlns:a="http://schemas.openxmlformats.org/drawingml/2006/main">
            <a:pPr>
              <a:defRPr sz="2475" b="0">
                <a:solidFill>
                  <a:srgbClr val="D3E4E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D3E4EE"/>
                </a:solidFill>
                <a:latin typeface="Arial"/>
                <a:ea typeface="Arial"/>
                <a:cs typeface="Arial"/>
              </a:rPr>
              <a:t>по цехам и сотрудникам</a:t>
            </a:r>
          </a:p>
        </p:txBody>
      </p:sp>
      <p:sp xmlns:a="http://schemas.openxmlformats.org/drawingml/2006/main">
        <p:nvSpPr>
          <p:cNvPr id="5" name="Powered by OITS&amp;ZI · Copyright © 2026"/>
          <p:cNvSpPr txBox="1"/>
          <p:nvPr/>
        </p:nvSpPr>
        <p:spPr>
          <a:xfrm>
            <a:off x="649224" y="6318504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6D6FF"/>
                </a:solidFill>
                <a:latin typeface="Arial"/>
              </a:rPr>
              <a:t>Powered by OITS&amp;ZI · Copyright © 2026</a:t>
            </a:r>
          </a:p>
        </p:txBody>
      </p:sp>
    </p:spTree>
    <p:extLst>
      <p:ext uri="{BB962C8B-B14F-4D97-AF65-F5344CB8AC3E}">
        <p14:creationId xmlns:p14="http://schemas.microsoft.com/office/powerpoint/2010/main" val="2092687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Для чего нужна программа">
            <a:extLst xmlns:a="http://schemas.openxmlformats.org/drawingml/2006/main">
              <a:ext uri="{FF2B5EF4-FFF2-40B4-BE49-F238E27FC236}">
                <a16:creationId xmlns:a16="http://schemas.microsoft.com/office/drawing/2014/main" id="{83CC8939-482C-4093-8ECE-971A4802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Для чего нужна программа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BDC78A42-4F7C-42E4-9575-8419A891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Мастер оформляет выполненные работы и объёмы за смену.">
            <a:extLst xmlns:a="http://schemas.openxmlformats.org/drawingml/2006/main">
              <a:ext uri="{FF2B5EF4-FFF2-40B4-BE49-F238E27FC236}">
                <a16:creationId xmlns:a16="http://schemas.microsoft.com/office/drawing/2014/main" id="{EBBA29D7-0FFE-4EE6-A341-65C7FA8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Мастер оформляет выполненные работы и объёмы за смену.</a:t>
            </a:r>
          </a:p>
          <a:p xmlns:a="http://schemas.openxmlformats.org/drawingml/2006/main">
            <a:pPr>
              <a:defRPr sz="24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Бухгалтер и экономист получают данные для расчётов и анализа.</a:t>
            </a:r>
          </a:p>
        </p:txBody>
      </p:sp>
      <p:sp>
        <p:nvSpPr>
          <p:cNvPr id="4" name="Наряды на работу">
            <a:extLst xmlns:a="http://schemas.openxmlformats.org/drawingml/2006/main">
              <a:ext uri="{FF2B5EF4-FFF2-40B4-BE49-F238E27FC236}">
                <a16:creationId xmlns:a16="http://schemas.microsoft.com/office/drawing/2014/main" id="{A62456F1-A0FB-4B0F-81EF-80A24E8C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Наряды на работу</a:t>
            </a:r>
          </a:p>
        </p:txBody>
      </p:sp>
      <p:sp>
        <p:nvSpPr>
          <p:cNvPr id="5" name="Сотрудники, виды работ, смена, мастер и подразделение — в одном документе.">
            <a:extLst xmlns:a="http://schemas.openxmlformats.org/drawingml/2006/main">
              <a:ext uri="{FF2B5EF4-FFF2-40B4-BE49-F238E27FC236}">
                <a16:creationId xmlns:a16="http://schemas.microsoft.com/office/drawing/2014/main" id="{60256242-7860-4F82-8724-3BF7064D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Сотрудники, виды работ, смена, мастер и подразделение — в одном документе.</a:t>
            </a:r>
          </a:p>
        </p:txBody>
      </p:sp>
      <p:sp>
        <p:nvSpPr>
          <p:cNvPr id="6" name="Учёт выработки и оплаты">
            <a:extLst xmlns:a="http://schemas.openxmlformats.org/drawingml/2006/main">
              <a:ext uri="{FF2B5EF4-FFF2-40B4-BE49-F238E27FC236}">
                <a16:creationId xmlns:a16="http://schemas.microsoft.com/office/drawing/2014/main" id="{6BEE7026-62E5-478F-ADDD-D65FA8A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Учёт выработки и оплаты</a:t>
            </a:r>
          </a:p>
        </p:txBody>
      </p:sp>
      <p:sp>
        <p:nvSpPr>
          <p:cNvPr id="7" name="Часы, объёмы ФИКС и ФАКТ, тарифы и рассчитанная оплата по работникам.">
            <a:extLst xmlns:a="http://schemas.openxmlformats.org/drawingml/2006/main">
              <a:ext uri="{FF2B5EF4-FFF2-40B4-BE49-F238E27FC236}">
                <a16:creationId xmlns:a16="http://schemas.microsoft.com/office/drawing/2014/main" id="{041017C0-CD3B-44F1-90E9-D144357C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Часы, объёмы ФИКС и ФАКТ, тарифы и рассчитанная оплата по работникам.</a:t>
            </a:r>
          </a:p>
        </p:txBody>
      </p:sp>
      <p:sp>
        <p:nvSpPr>
          <p:cNvPr id="8" name="Аналитика и Excel">
            <a:extLst xmlns:a="http://schemas.openxmlformats.org/drawingml/2006/main">
              <a:ext uri="{FF2B5EF4-FFF2-40B4-BE49-F238E27FC236}">
                <a16:creationId xmlns:a16="http://schemas.microsoft.com/office/drawing/2014/main" id="{D53EBFD4-0DE4-4768-9D22-E14714C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Аналитика и Excel</a:t>
            </a:r>
          </a:p>
        </p:txBody>
      </p:sp>
      <p:sp>
        <p:nvSpPr>
          <p:cNvPr id="9" name="Сравнение цехов, сотрудников и мастеров. Таблицы и графики в отчёте.">
            <a:extLst xmlns:a="http://schemas.openxmlformats.org/drawingml/2006/main">
              <a:ext uri="{FF2B5EF4-FFF2-40B4-BE49-F238E27FC236}">
                <a16:creationId xmlns:a16="http://schemas.microsoft.com/office/drawing/2014/main" id="{0B19BE41-9005-49A1-B928-FF6E6C47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Сравнение цехов, сотрудников и мастеров. Таблицы и графики в отчёте.</a:t>
            </a:r>
          </a:p>
        </p:txBody>
      </p:sp>
      <p:sp>
        <p:nvSpPr>
          <p:cNvPr id="10" name="Совместная работа">
            <a:extLst xmlns:a="http://schemas.openxmlformats.org/drawingml/2006/main">
              <a:ext uri="{FF2B5EF4-FFF2-40B4-BE49-F238E27FC236}">
                <a16:creationId xmlns:a16="http://schemas.microsoft.com/office/drawing/2014/main" id="{DA9BA8EB-1E0C-4989-BFA0-AFAD90E9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1487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Совместная работа</a:t>
            </a:r>
          </a:p>
        </p:txBody>
      </p:sp>
      <p:sp>
        <p:nvSpPr>
          <p:cNvPr id="11" name="Пять пользователей работают с общими базами на сетевом диске.">
            <a:extLst xmlns:a="http://schemas.openxmlformats.org/drawingml/2006/main">
              <a:ext uri="{FF2B5EF4-FFF2-40B4-BE49-F238E27FC236}">
                <a16:creationId xmlns:a16="http://schemas.microsoft.com/office/drawing/2014/main" id="{CFBDE898-647B-4874-B031-5FE1FE67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Пять пользователей работают с общими базами на сетевом диске.</a:t>
            </a:r>
          </a:p>
        </p:txBody>
      </p:sp>
    </p:spTree>
    <p:extLst>
      <p:ext uri="{BB962C8B-B14F-4D97-AF65-F5344CB8AC3E}">
        <p14:creationId xmlns:p14="http://schemas.microsoft.com/office/powerpoint/2010/main" val="656221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Принцип работы">
            <a:extLst xmlns:a="http://schemas.openxmlformats.org/drawingml/2006/main">
              <a:ext uri="{FF2B5EF4-FFF2-40B4-BE49-F238E27FC236}">
                <a16:creationId xmlns:a16="http://schemas.microsoft.com/office/drawing/2014/main" id="{7B72892C-0237-4857-9662-8A717C5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Принцип работы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2DA959D0-7A55-4E62-A413-971FDED2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8AB2F0B9-A38E-4A82-863C-7E8EAE4B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Вход и выбор цеха">
            <a:extLst xmlns:a="http://schemas.openxmlformats.org/drawingml/2006/main">
              <a:ext uri="{FF2B5EF4-FFF2-40B4-BE49-F238E27FC236}">
                <a16:creationId xmlns:a16="http://schemas.microsoft.com/office/drawing/2014/main" id="{C63C02B2-1416-46AD-BA1A-D97E9E5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81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Вход и выбор цеха</a:t>
            </a:r>
          </a:p>
        </p:txBody>
      </p:sp>
      <p:sp>
        <p:nvSpPr>
          <p:cNvPr id="5" name="Логин и роль определяют права пользователя и доступные рабочие пространства.">
            <a:extLst xmlns:a="http://schemas.openxmlformats.org/drawingml/2006/main">
              <a:ext uri="{FF2B5EF4-FFF2-40B4-BE49-F238E27FC236}">
                <a16:creationId xmlns:a16="http://schemas.microsoft.com/office/drawing/2014/main" id="{572873CC-1CBB-4785-B58C-CF5F9EC5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38325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Логин и роль определяют права пользователя и доступные рабочие пространства.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2743214C-90BE-48B5-8343-CD5D6349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Формирование наряда">
            <a:extLst xmlns:a="http://schemas.openxmlformats.org/drawingml/2006/main">
              <a:ext uri="{FF2B5EF4-FFF2-40B4-BE49-F238E27FC236}">
                <a16:creationId xmlns:a16="http://schemas.microsoft.com/office/drawing/2014/main" id="{B5FB007A-39A0-43D1-9243-FD0C051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812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Формирование наряда</a:t>
            </a:r>
          </a:p>
        </p:txBody>
      </p:sp>
      <p:sp>
        <p:nvSpPr>
          <p:cNvPr id="8" name="Мастер выбирает смену, работников и работы, вводит часы и объёмы.">
            <a:extLst xmlns:a="http://schemas.openxmlformats.org/drawingml/2006/main">
              <a:ext uri="{FF2B5EF4-FFF2-40B4-BE49-F238E27FC236}">
                <a16:creationId xmlns:a16="http://schemas.microsoft.com/office/drawing/2014/main" id="{D6168422-3ABE-481C-B8A1-BCF6AE55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38475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Мастер выбирает смену, работников и работы, вводит часы и объёмы.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19FD45A2-9DD3-4669-A373-DAEFAEE0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Сохранение и версии">
            <a:extLst xmlns:a="http://schemas.openxmlformats.org/drawingml/2006/main">
              <a:ext uri="{FF2B5EF4-FFF2-40B4-BE49-F238E27FC236}">
                <a16:creationId xmlns:a16="http://schemas.microsoft.com/office/drawing/2014/main" id="{B035BDDD-9A25-4F75-B74C-DB00EDE4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814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Сохранение и версии</a:t>
            </a:r>
          </a:p>
        </p:txBody>
      </p:sp>
      <p:sp>
        <p:nvSpPr>
          <p:cNvPr id="11" name="Наряд сохраняется в общей базе. При правке создаётся новая версия.">
            <a:extLst xmlns:a="http://schemas.openxmlformats.org/drawingml/2006/main">
              <a:ext uri="{FF2B5EF4-FFF2-40B4-BE49-F238E27FC236}">
                <a16:creationId xmlns:a16="http://schemas.microsoft.com/office/drawing/2014/main" id="{7C009EBF-91DF-49E0-93C6-F8142F9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Наряд сохраняется в общей базе. При правке создаётся новая версия.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07280EC4-0D0E-4DEA-8082-1B3B447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Аналитика и отчёты">
            <a:extLst xmlns:a="http://schemas.openxmlformats.org/drawingml/2006/main">
              <a:ext uri="{FF2B5EF4-FFF2-40B4-BE49-F238E27FC236}">
                <a16:creationId xmlns:a16="http://schemas.microsoft.com/office/drawing/2014/main" id="{03B57873-993C-4510-A138-C5A3FA36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815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Аналитика и отчёты</a:t>
            </a:r>
          </a:p>
        </p:txBody>
      </p:sp>
      <p:sp>
        <p:nvSpPr>
          <p:cNvPr id="14" name="Специалист выбирает период и фильтры, изучает показатели и выгружает Excel.">
            <a:extLst xmlns:a="http://schemas.openxmlformats.org/drawingml/2006/main">
              <a:ext uri="{FF2B5EF4-FFF2-40B4-BE49-F238E27FC236}">
                <a16:creationId xmlns:a16="http://schemas.microsoft.com/office/drawing/2014/main" id="{F1EFD28D-F5B9-432E-AB52-BB76F080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38775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Специалист выбирает период и фильтры, изучает показатели и выгружает Excel.</a:t>
            </a:r>
          </a:p>
        </p:txBody>
      </p:sp>
    </p:spTree>
    <p:extLst>
      <p:ext uri="{BB962C8B-B14F-4D97-AF65-F5344CB8AC3E}">
        <p14:creationId xmlns:p14="http://schemas.microsoft.com/office/powerpoint/2010/main" val="1157413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Вход и доступ к цехам">
            <a:extLst xmlns:a="http://schemas.openxmlformats.org/drawingml/2006/main">
              <a:ext uri="{FF2B5EF4-FFF2-40B4-BE49-F238E27FC236}">
                <a16:creationId xmlns:a16="http://schemas.microsoft.com/office/drawing/2014/main" id="{0C850E03-73D8-487A-919B-3D33F7F0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Вход и доступ к цехам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EDA5CA3A-B766-47E2-9628-70868481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Smart Order · авторизация" descr="Smart Order · авторизация; демонстрационные данны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096" y="1161288"/>
            <a:ext cx="3531246" cy="4855464"/>
          </a:xfrm>
          <a:prstGeom prst="rect">
            <a:avLst/>
          </a:prstGeom>
        </p:spPr>
      </p:pic>
      <p:sp>
        <p:nvSpPr>
          <p:cNvPr id="4" name="Мастера цехов">
            <a:extLst xmlns:a="http://schemas.openxmlformats.org/drawingml/2006/main">
              <a:ext uri="{FF2B5EF4-FFF2-40B4-BE49-F238E27FC236}">
                <a16:creationId xmlns:a16="http://schemas.microsoft.com/office/drawing/2014/main" id="{A82FF77B-9656-4BB6-9F1D-97DEFB40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Мастера цехов</a:t>
            </a:r>
          </a:p>
        </p:txBody>
      </p:sp>
      <p:sp>
        <p:nvSpPr>
          <p:cNvPr id="5" name="Логин и роль определяют,">
            <a:extLst xmlns:a="http://schemas.openxmlformats.org/drawingml/2006/main">
              <a:ext uri="{FF2B5EF4-FFF2-40B4-BE49-F238E27FC236}">
                <a16:creationId xmlns:a16="http://schemas.microsoft.com/office/drawing/2014/main" id="{B7A9E4BC-DF8F-44DE-B9CA-270FCFDF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572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Логин и роль определяют,</a:t>
            </a:r>
          </a:p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какие цеха доступны мастеру.</a:t>
            </a:r>
          </a:p>
        </p:txBody>
      </p:sp>
      <p:sp>
        <p:nvSpPr>
          <p:cNvPr id="6" name="Специалисты и администратор">
            <a:extLst xmlns:a="http://schemas.openxmlformats.org/drawingml/2006/main">
              <a:ext uri="{FF2B5EF4-FFF2-40B4-BE49-F238E27FC236}">
                <a16:creationId xmlns:a16="http://schemas.microsoft.com/office/drawing/2014/main" id="{0499BC9E-E53D-4D31-9D85-520A454E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57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Специалисты и администратор</a:t>
            </a:r>
          </a:p>
        </p:txBody>
      </p:sp>
      <p:sp>
        <p:nvSpPr>
          <p:cNvPr id="7" name="Администратор, Бухгалтер и Экономист">
            <a:extLst xmlns:a="http://schemas.openxmlformats.org/drawingml/2006/main">
              <a:ext uri="{FF2B5EF4-FFF2-40B4-BE49-F238E27FC236}">
                <a16:creationId xmlns:a16="http://schemas.microsoft.com/office/drawing/2014/main" id="{1AD209B3-3B40-4CD3-AF9E-9E25B91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5572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Администратор, Бухгалтер и Экономист</a:t>
            </a:r>
          </a:p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видят все цеха и вкладку «Аналитика».</a:t>
            </a:r>
          </a:p>
        </p:txBody>
      </p:sp>
      <p:sp>
        <p:nvSpPr>
          <p:cNvPr id="8" name="Введите логин и пароль. Цех выбирается">
            <a:extLst xmlns:a="http://schemas.openxmlformats.org/drawingml/2006/main">
              <a:ext uri="{FF2B5EF4-FFF2-40B4-BE49-F238E27FC236}">
                <a16:creationId xmlns:a16="http://schemas.microsoft.com/office/drawing/2014/main" id="{1EB2E815-5FDC-4D09-9ADB-E8B14D0C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Введите логин и пароль. Цех выбирается</a:t>
            </a:r>
          </a:p>
          <a:p xmlns:a="http://schemas.openxmlformats.org/drawingml/2006/main">
            <a: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в верхней строке после входа.</a:t>
            </a:r>
          </a:p>
        </p:txBody>
      </p:sp>
      <p:sp xmlns:a="http://schemas.openxmlformats.org/drawingml/2006/main">
        <p:nvSpPr>
          <p:cNvPr id="11" name="Интерфейс на демонстрационных данных."/>
          <p:cNvSpPr txBox="1"/>
          <p:nvPr/>
        </p:nvSpPr>
        <p:spPr>
          <a:xfrm>
            <a:off x="649224" y="6419088"/>
            <a:ext cx="99669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594"/>
                </a:solidFill>
                <a:latin typeface="Arial"/>
              </a:rPr>
              <a:t>Интерфейс на демонстрационных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39071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Основной экран">
            <a:extLst xmlns:a="http://schemas.openxmlformats.org/drawingml/2006/main">
              <a:ext uri="{FF2B5EF4-FFF2-40B4-BE49-F238E27FC236}">
                <a16:creationId xmlns:a16="http://schemas.microsoft.com/office/drawing/2014/main" id="{341CE649-CEFA-4804-BE3C-D66627F5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Основной экран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0A02C201-B4C0-4951-A81D-C1338D39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 xmlns:a="http://schemas.openxmlformats.org/drawingml/2006/main" xmlns:r="http://schemas.openxmlformats.org/officeDocument/2006/relationships">
        <p:nvPicPr>
          <p:cNvPr id="5" name="Smart Order · список нарядов" descr="Smart Order · список нарядов; демонстрационные данны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116" y="1207008"/>
            <a:ext cx="9179862" cy="5038344"/>
          </a:xfrm>
          <a:prstGeom prst="rect">
            <a:avLst/>
          </a:prstGeom>
        </p:spPr>
      </p:pic>
      <p:sp xmlns:a="http://schemas.openxmlformats.org/drawingml/2006/main">
        <p:nvSpPr>
          <p:cNvPr id="6" name="Интерфейс на демонстрационных данных."/>
          <p:cNvSpPr txBox="1"/>
          <p:nvPr/>
        </p:nvSpPr>
        <p:spPr>
          <a:xfrm>
            <a:off x="649224" y="6419088"/>
            <a:ext cx="99669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594"/>
                </a:solidFill>
                <a:latin typeface="Arial"/>
              </a:rPr>
              <a:t>Интерфейс на демонстрационных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257110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ФИКС, ФАКТ и расчёт оплаты">
            <a:extLst xmlns:a="http://schemas.openxmlformats.org/drawingml/2006/main">
              <a:ext uri="{FF2B5EF4-FFF2-40B4-BE49-F238E27FC236}">
                <a16:creationId xmlns:a16="http://schemas.microsoft.com/office/drawing/2014/main" id="{C5D8BA97-9945-481D-BC5F-D5D728E4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ФИКС, ФАКТ и расчёт оплаты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815D1F84-B0BC-4D7E-94D9-3AE04BCC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Smart Order · фрагмент расчётов наряда" descr="Order_Table_DEMO.png"/>
          <p:cNvPicPr>
            <a:picLocks noChangeAspect="1"/>
          </p:cNvPicPr>
          <p:nvPr/>
        </p:nvPicPr>
        <p:blipFill>
          <a:blip r:embed="rId4"/>
          <a:srcRect l="50271" r="9378" b="32862"/>
          <a:stretch>
            <a:fillRect/>
          </a:stretch>
        </p:blipFill>
        <p:spPr>
          <a:xfrm>
            <a:off x="5239512" y="2048256"/>
            <a:ext cx="6336792" cy="1345240"/>
          </a:xfrm>
          <a:prstGeom prst="rect">
            <a:avLst/>
          </a:prstGeom>
        </p:spPr>
      </p:pic>
      <p:sp>
        <p:nvSpPr>
          <p:cNvPr id="4" name="ФИКС: коробки и вес">
            <a:extLst xmlns:a="http://schemas.openxmlformats.org/drawingml/2006/main">
              <a:ext uri="{FF2B5EF4-FFF2-40B4-BE49-F238E27FC236}">
                <a16:creationId xmlns:a16="http://schemas.microsoft.com/office/drawing/2014/main" id="{39CA0976-BB01-45ED-8C19-0C17822C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ФИКС: коробки и вес</a:t>
            </a:r>
          </a:p>
        </p:txBody>
      </p:sp>
      <p:sp>
        <p:nvSpPr>
          <p:cNvPr id="5" name="Коробки × вес коробки дают кг.">
            <a:extLst xmlns:a="http://schemas.openxmlformats.org/drawingml/2006/main">
              <a:ext uri="{FF2B5EF4-FFF2-40B4-BE49-F238E27FC236}">
                <a16:creationId xmlns:a16="http://schemas.microsoft.com/office/drawing/2014/main" id="{ED5F6A2C-1AB9-4312-B88F-87EF9D90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19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Коробки × вес коробки дают кг.</a:t>
            </a:r>
          </a:p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Стоимость рассчитывается</a:t>
            </a:r>
          </a:p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по тарифу выбранной работы.</a:t>
            </a:r>
          </a:p>
        </p:txBody>
      </p:sp>
      <p:sp>
        <p:nvSpPr>
          <p:cNvPr id="6" name="ФАКТ: значение работы">
            <a:extLst xmlns:a="http://schemas.openxmlformats.org/drawingml/2006/main">
              <a:ext uri="{FF2B5EF4-FFF2-40B4-BE49-F238E27FC236}">
                <a16:creationId xmlns:a16="http://schemas.microsoft.com/office/drawing/2014/main" id="{542E9786-0B54-4950-B199-8711FCB7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ФАКТ: значение работы</a:t>
            </a:r>
          </a:p>
        </p:txBody>
      </p:sp>
      <p:sp>
        <p:nvSpPr>
          <p:cNvPr id="7" name="Часы, килограммы или штуки. Единица задаётся для выбранного вида работы.">
            <a:extLst xmlns:a="http://schemas.openxmlformats.org/drawingml/2006/main">
              <a:ext uri="{FF2B5EF4-FFF2-40B4-BE49-F238E27FC236}">
                <a16:creationId xmlns:a16="http://schemas.microsoft.com/office/drawing/2014/main" id="{6C2B2CD3-8EFD-4EC0-AE77-3573EFF2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419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Часы, килограммы или штуки. Единица задаётся для выбранного вида работы.</a:t>
            </a:r>
          </a:p>
        </p:txBody>
      </p:sp>
      <p:sp>
        <p:nvSpPr>
          <p:cNvPr id="8" name="В столбце «ФАКТ Оплата» объединяются">
            <a:extLst xmlns:a="http://schemas.openxmlformats.org/drawingml/2006/main">
              <a:ext uri="{FF2B5EF4-FFF2-40B4-BE49-F238E27FC236}">
                <a16:creationId xmlns:a16="http://schemas.microsoft.com/office/drawing/2014/main" id="{7B8DE13A-7EFD-4E9F-B100-9E821AB5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6238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 столбце «ФАКТ Оплата» объединяются</a:t>
            </a:r>
          </a:p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рассчитанные суммы ФИКС и ФАКТ.</a:t>
            </a:r>
          </a:p>
        </p:txBody>
      </p:sp>
      <p:sp xmlns:a="http://schemas.openxmlformats.org/drawingml/2006/main">
        <p:nvSpPr>
          <p:cNvPr id="11" name="Расчёт по строкам наряда"/>
          <p:cNvSpPr txBox="1"/>
          <p:nvPr/>
        </p:nvSpPr>
        <p:spPr>
          <a:xfrm>
            <a:off x="5239512" y="1499616"/>
            <a:ext cx="633679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176B9C"/>
                </a:solidFill>
                <a:latin typeface="Arial"/>
              </a:rPr>
              <a:t>Расчёт по строкам наряда</a:t>
            </a:r>
          </a:p>
        </p:txBody>
      </p:sp>
      <p:sp xmlns:a="http://schemas.openxmlformats.org/drawingml/2006/main">
        <p:nvSpPr>
          <p:cNvPr id="12" name="Пример: 85,5 кг → 171 руб.; 2,5 ч → 5 руб."/>
          <p:cNvSpPr txBox="1"/>
          <p:nvPr/>
        </p:nvSpPr>
        <p:spPr>
          <a:xfrm>
            <a:off x="5239512" y="3758184"/>
            <a:ext cx="623620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03649"/>
                </a:solidFill>
                <a:latin typeface="Arial"/>
              </a:rPr>
              <a:t>Пример: 85,5 кг → 171 руб.; 2,5 ч → 5 руб.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03649"/>
                </a:solidFill>
                <a:latin typeface="Arial"/>
              </a:rPr>
              <a:t>Весь наряд: 237 руб. + 5 руб. = 242 руб.</a:t>
            </a:r>
          </a:p>
        </p:txBody>
      </p:sp>
      <p:sp xmlns:a="http://schemas.openxmlformats.org/drawingml/2006/main">
        <p:nvSpPr>
          <p:cNvPr id="13" name="Интерфейс на демонстрационных данных."/>
          <p:cNvSpPr txBox="1"/>
          <p:nvPr/>
        </p:nvSpPr>
        <p:spPr>
          <a:xfrm>
            <a:off x="649224" y="6419088"/>
            <a:ext cx="99669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594"/>
                </a:solidFill>
                <a:latin typeface="Arial"/>
              </a:rPr>
              <a:t>Интерфейс на демонстрационных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723293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Возможности администратора">
            <a:extLst xmlns:a="http://schemas.openxmlformats.org/drawingml/2006/main">
              <a:ext uri="{FF2B5EF4-FFF2-40B4-BE49-F238E27FC236}">
                <a16:creationId xmlns:a16="http://schemas.microsoft.com/office/drawing/2014/main" id="{6221C9CE-A44E-4A2B-BF49-897F6D70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Возможности администратора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DE67CD3D-D08D-4EC9-AE85-75C98487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Справочники цеха">
            <a:extLst xmlns:a="http://schemas.openxmlformats.org/drawingml/2006/main">
              <a:ext uri="{FF2B5EF4-FFF2-40B4-BE49-F238E27FC236}">
                <a16:creationId xmlns:a16="http://schemas.microsoft.com/office/drawing/2014/main" id="{11E53D0A-11C1-4445-B48C-81A3F7B4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Справочники цеха</a:t>
            </a:r>
          </a:p>
        </p:txBody>
      </p:sp>
      <p:sp>
        <p:nvSpPr>
          <p:cNvPr id="4" name="Сотрудники, мастера, подразделения и номенклатура работ с тарифами.">
            <a:extLst xmlns:a="http://schemas.openxmlformats.org/drawingml/2006/main">
              <a:ext uri="{FF2B5EF4-FFF2-40B4-BE49-F238E27FC236}">
                <a16:creationId xmlns:a16="http://schemas.microsoft.com/office/drawing/2014/main" id="{A2005DB7-C1C7-43B0-AE3A-21929EDA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Сотрудники, мастера, подразделения и номенклатура работ с тарифами.</a:t>
            </a:r>
          </a:p>
        </p:txBody>
      </p:sp>
      <p:sp>
        <p:nvSpPr>
          <p:cNvPr id="5" name="Пользователи и роли">
            <a:extLst xmlns:a="http://schemas.openxmlformats.org/drawingml/2006/main">
              <a:ext uri="{FF2B5EF4-FFF2-40B4-BE49-F238E27FC236}">
                <a16:creationId xmlns:a16="http://schemas.microsoft.com/office/drawing/2014/main" id="{E06F9C13-BDB6-4B3E-8E8A-438AFC69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Пользователи и роли</a:t>
            </a:r>
          </a:p>
        </p:txBody>
      </p:sp>
      <p:sp>
        <p:nvSpPr>
          <p:cNvPr id="6" name="Создание учётных записей, назначение ролей и управление доступом.">
            <a:extLst xmlns:a="http://schemas.openxmlformats.org/drawingml/2006/main">
              <a:ext uri="{FF2B5EF4-FFF2-40B4-BE49-F238E27FC236}">
                <a16:creationId xmlns:a16="http://schemas.microsoft.com/office/drawing/2014/main" id="{C46644F9-2BCF-4B50-BDC1-05A6AB0C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Создание учётных записей, назначение ролей и управление доступом.</a:t>
            </a:r>
          </a:p>
        </p:txBody>
      </p:sp>
      <p:sp>
        <p:nvSpPr>
          <p:cNvPr id="7" name="История действий">
            <a:extLst xmlns:a="http://schemas.openxmlformats.org/drawingml/2006/main">
              <a:ext uri="{FF2B5EF4-FFF2-40B4-BE49-F238E27FC236}">
                <a16:creationId xmlns:a16="http://schemas.microsoft.com/office/drawing/2014/main" id="{50C71270-28F5-4093-98FD-EF12E878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История действий</a:t>
            </a:r>
          </a:p>
        </p:txBody>
      </p:sp>
      <p:sp>
        <p:nvSpPr>
          <p:cNvPr id="8" name="Журнал сохранений и изменений. Поиск по периоду и пользователю.">
            <a:extLst xmlns:a="http://schemas.openxmlformats.org/drawingml/2006/main">
              <a:ext uri="{FF2B5EF4-FFF2-40B4-BE49-F238E27FC236}">
                <a16:creationId xmlns:a16="http://schemas.microsoft.com/office/drawing/2014/main" id="{5EEAC0E5-D873-42C1-808C-0544CD49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Журнал сохранений и изменений. Поиск по периоду и пользователю.</a:t>
            </a:r>
          </a:p>
        </p:txBody>
      </p:sp>
      <p:sp>
        <p:nvSpPr>
          <p:cNvPr id="9" name="Бэкапы и диагностика">
            <a:extLst xmlns:a="http://schemas.openxmlformats.org/drawingml/2006/main">
              <a:ext uri="{FF2B5EF4-FFF2-40B4-BE49-F238E27FC236}">
                <a16:creationId xmlns:a16="http://schemas.microsoft.com/office/drawing/2014/main" id="{DEE2922C-BB83-4DEE-9589-E67AB04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Бэкапы и диагностика</a:t>
            </a:r>
          </a:p>
        </p:txBody>
      </p:sp>
      <p:sp>
        <p:nvSpPr>
          <p:cNvPr id="10" name="Резервные копии, архивные снимки и список активных пользователей программы.">
            <a:extLst xmlns:a="http://schemas.openxmlformats.org/drawingml/2006/main">
              <a:ext uri="{FF2B5EF4-FFF2-40B4-BE49-F238E27FC236}">
                <a16:creationId xmlns:a16="http://schemas.microsoft.com/office/drawing/2014/main" id="{A13B6F33-B724-48A4-A8C3-3D52AB61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Резервные копии, архивные снимки и список активных пользователей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2038820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инхронизация между компьютерами">
            <a:extLst xmlns:a="http://schemas.openxmlformats.org/drawingml/2006/main">
              <a:ext uri="{FF2B5EF4-FFF2-40B4-BE49-F238E27FC236}">
                <a16:creationId xmlns:a16="http://schemas.microsoft.com/office/drawing/2014/main" id="{E17A54E2-9D18-4447-A92E-4BFFFC39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Синхронизация между компьютерами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4376064A-AFDA-473C-A532-957884B5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8C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8CD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DD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Пять пользователей — общие данные в сетевой папке">
            <a:extLst xmlns:a="http://schemas.openxmlformats.org/drawingml/2006/main">
              <a:ext uri="{FF2B5EF4-FFF2-40B4-BE49-F238E27FC236}">
                <a16:creationId xmlns:a16="http://schemas.microsoft.com/office/drawing/2014/main" id="{3F984FF8-535B-4292-890C-A4F68ABC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Пять пользователей — общие данные в сетевой папке</a:t>
            </a:r>
          </a:p>
        </p:txBody>
      </p:sp>
      <p:sp>
        <p:nvSpPr>
          <p:cNvPr id="4" name="На каждом компьютере">
            <a:extLst xmlns:a="http://schemas.openxmlformats.org/drawingml/2006/main">
              <a:ext uri="{FF2B5EF4-FFF2-40B4-BE49-F238E27FC236}">
                <a16:creationId xmlns:a16="http://schemas.microsoft.com/office/drawing/2014/main" id="{2313B851-3A7B-47A1-B0A6-F78DB94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6D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6D6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D6FF"/>
                </a:solidFill>
                <a:latin typeface="Arial"/>
                <a:ea typeface="Arial"/>
                <a:cs typeface="Arial"/>
              </a:rPr>
              <a:t>На каждом компьютере</a:t>
            </a:r>
          </a:p>
        </p:txBody>
      </p:sp>
      <p:sp>
        <p:nvSpPr>
          <p:cNvPr id="5" name="Интерфейс и библиотеки работают">
            <a:extLst xmlns:a="http://schemas.openxmlformats.org/drawingml/2006/main">
              <a:ext uri="{FF2B5EF4-FFF2-40B4-BE49-F238E27FC236}">
                <a16:creationId xmlns:a16="http://schemas.microsoft.com/office/drawing/2014/main" id="{3C5F288F-F18C-4A77-B97B-D83E450B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Интерфейс и библиотеки работают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локального кеша.</a:t>
            </a:r>
          </a:p>
        </p:txBody>
      </p:sp>
      <p:sp>
        <p:nvSpPr>
          <p:cNvPr id="6" name="На сетевом диске">
            <a:extLst xmlns:a="http://schemas.openxmlformats.org/drawingml/2006/main">
              <a:ext uri="{FF2B5EF4-FFF2-40B4-BE49-F238E27FC236}">
                <a16:creationId xmlns:a16="http://schemas.microsoft.com/office/drawing/2014/main" id="{751EB4F2-1B2D-46C7-A727-C4891E16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6D6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6D6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D6FF"/>
                </a:solidFill>
                <a:latin typeface="Arial"/>
                <a:ea typeface="Arial"/>
                <a:cs typeface="Arial"/>
              </a:rPr>
              <a:t>На сетевом диске</a:t>
            </a:r>
          </a:p>
        </p:txBody>
      </p:sp>
      <p:sp>
        <p:nvSpPr>
          <p:cNvPr id="7" name="У каждого цеха своя база. Наряды,">
            <a:extLst xmlns:a="http://schemas.openxmlformats.org/drawingml/2006/main">
              <a:ext uri="{FF2B5EF4-FFF2-40B4-BE49-F238E27FC236}">
                <a16:creationId xmlns:a16="http://schemas.microsoft.com/office/drawing/2014/main" id="{6FD35BC2-D756-40E9-BAA6-ED57333E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 каждого цеха своя база. Наряды,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справочники и версии — общие.</a:t>
            </a:r>
          </a:p>
        </p:txBody>
      </p:sp>
      <p:sp>
        <p:nvSpPr>
          <p:cNvPr id="8" name="Проверка новых нарядов — примерно каждые 1,5 секунды.">
            <a:extLst xmlns:a="http://schemas.openxmlformats.org/drawingml/2006/main">
              <a:ext uri="{FF2B5EF4-FFF2-40B4-BE49-F238E27FC236}">
                <a16:creationId xmlns:a16="http://schemas.microsoft.com/office/drawing/2014/main" id="{F7AB5EE2-0952-444A-8CC3-B5DB9950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новых нарядов — примерно каждые 1,5 секунды.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Устаревшая версия не перезаписывает новую.</a:t>
            </a:r>
          </a:p>
        </p:txBody>
      </p:sp>
      <p:sp xmlns:a="http://schemas.openxmlformats.org/drawingml/2006/main">
        <p:nvSpPr>
          <p:cNvPr id="11" name="Шесть отдельных цехов"/>
          <p:cNvSpPr/>
          <p:nvPr/>
        </p:nvSpPr>
        <p:spPr>
          <a:xfrm>
            <a:off x="612648" y="5687568"/>
            <a:ext cx="10863072" cy="475488"/>
          </a:xfrm>
          <a:prstGeom prst="rect">
            <a:avLst/>
          </a:prstGeom>
          <a:solidFill>
            <a:srgbClr val="1D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Упаковка  ·  Коптильный  ·  Сушка  ·  Сычужный  ·  Сыр цех  ·  Адыгейский"/>
          <p:cNvSpPr txBox="1"/>
          <p:nvPr/>
        </p:nvSpPr>
        <p:spPr>
          <a:xfrm>
            <a:off x="758952" y="5815584"/>
            <a:ext cx="1057960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3E4EE"/>
                </a:solidFill>
                <a:latin typeface="Arial"/>
              </a:rPr>
              <a:t>Упаковка  ·  Коптильный  ·  Сушка  ·  Сычужный  ·  Сыр цех  ·  Адыгейский</a:t>
            </a:r>
          </a:p>
        </p:txBody>
      </p:sp>
    </p:spTree>
    <p:extLst>
      <p:ext uri="{BB962C8B-B14F-4D97-AF65-F5344CB8AC3E}">
        <p14:creationId xmlns:p14="http://schemas.microsoft.com/office/powerpoint/2010/main" val="17702616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Версии, уведомления и файлы">
            <a:extLst xmlns:a="http://schemas.openxmlformats.org/drawingml/2006/main">
              <a:ext uri="{FF2B5EF4-FFF2-40B4-BE49-F238E27FC236}">
                <a16:creationId xmlns:a16="http://schemas.microsoft.com/office/drawing/2014/main" id="{A38A221D-F1D7-4B1B-9152-0019272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Версии, уведомления и файлы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5E6B3B86-0E8A-4517-B550-9F4E35A8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Версии нарядов">
            <a:extLst xmlns:a="http://schemas.openxmlformats.org/drawingml/2006/main">
              <a:ext uri="{FF2B5EF4-FFF2-40B4-BE49-F238E27FC236}">
                <a16:creationId xmlns:a16="http://schemas.microsoft.com/office/drawing/2014/main" id="{458BB8BC-9158-414C-9AE6-31C2DD03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Версии нарядов</a:t>
            </a:r>
          </a:p>
        </p:txBody>
      </p:sp>
      <p:sp>
        <p:nvSpPr>
          <p:cNvPr id="4" name="Сохранённая правка создаёт новую версию. Предыдущий вариант остаётся в истории.">
            <a:extLst xmlns:a="http://schemas.openxmlformats.org/drawingml/2006/main">
              <a:ext uri="{FF2B5EF4-FFF2-40B4-BE49-F238E27FC236}">
                <a16:creationId xmlns:a16="http://schemas.microsoft.com/office/drawing/2014/main" id="{3C435BC8-988D-47EC-86DD-1973CA6D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Сохранённая правка создаёт новую версию. Предыдущий вариант остаётся в истории.</a:t>
            </a:r>
          </a:p>
        </p:txBody>
      </p:sp>
      <p:sp>
        <p:nvSpPr>
          <p:cNvPr id="5" name="Уведомления мастерам">
            <a:extLst xmlns:a="http://schemas.openxmlformats.org/drawingml/2006/main">
              <a:ext uri="{FF2B5EF4-FFF2-40B4-BE49-F238E27FC236}">
                <a16:creationId xmlns:a16="http://schemas.microsoft.com/office/drawing/2014/main" id="{435F19DA-D0D5-4B5E-AF48-277A7A74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382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Уведомления мастерам</a:t>
            </a:r>
          </a:p>
        </p:txBody>
      </p:sp>
      <p:sp>
        <p:nvSpPr>
          <p:cNvPr id="6" name="Колокольчик сообщает о чужой правке или комментарии в наряде мастера.">
            <a:extLst xmlns:a="http://schemas.openxmlformats.org/drawingml/2006/main">
              <a:ext uri="{FF2B5EF4-FFF2-40B4-BE49-F238E27FC236}">
                <a16:creationId xmlns:a16="http://schemas.microsoft.com/office/drawing/2014/main" id="{B66BBB94-0873-4426-800D-90EDDB21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3357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Колокольчик сообщает о чужой правке или комментарии в наряде мастера.</a:t>
            </a:r>
          </a:p>
        </p:txBody>
      </p:sp>
      <p:sp>
        <p:nvSpPr>
          <p:cNvPr id="7" name="Файлы по датам">
            <a:extLst xmlns:a="http://schemas.openxmlformats.org/drawingml/2006/main">
              <a:ext uri="{FF2B5EF4-FFF2-40B4-BE49-F238E27FC236}">
                <a16:creationId xmlns:a16="http://schemas.microsoft.com/office/drawing/2014/main" id="{F72F3A2D-2B1F-4495-8AF3-0F2E57C2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Файлы по датам</a:t>
            </a:r>
          </a:p>
        </p:txBody>
      </p:sp>
      <p:sp>
        <p:nvSpPr>
          <p:cNvPr id="8" name="Цех → год-месяц → день. Каждая версия получает отдельный файл .sorder.">
            <a:extLst xmlns:a="http://schemas.openxmlformats.org/drawingml/2006/main">
              <a:ext uri="{FF2B5EF4-FFF2-40B4-BE49-F238E27FC236}">
                <a16:creationId xmlns:a16="http://schemas.microsoft.com/office/drawing/2014/main" id="{11A500EB-CCE5-4D10-A57A-9697A151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Цех → год-месяц → день. Каждая версия получает отдельный файл .sorder.</a:t>
            </a:r>
          </a:p>
        </p:txBody>
      </p:sp>
      <p:sp>
        <p:nvSpPr>
          <p:cNvPr id="9" name="Открытие из папки">
            <a:extLst xmlns:a="http://schemas.openxmlformats.org/drawingml/2006/main">
              <a:ext uri="{FF2B5EF4-FFF2-40B4-BE49-F238E27FC236}">
                <a16:creationId xmlns:a16="http://schemas.microsoft.com/office/drawing/2014/main" id="{33949AD8-4C31-4728-8635-EDD16123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Открытие из папки</a:t>
            </a:r>
          </a:p>
        </p:txBody>
      </p:sp>
      <p:sp>
        <p:nvSpPr>
          <p:cNvPr id="10" name="Двойной щелчок открывает наряд: просмотр, правка актуальной версии и Excel.">
            <a:extLst xmlns:a="http://schemas.openxmlformats.org/drawingml/2006/main">
              <a:ext uri="{FF2B5EF4-FFF2-40B4-BE49-F238E27FC236}">
                <a16:creationId xmlns:a16="http://schemas.microsoft.com/office/drawing/2014/main" id="{E2F49B0D-491A-428B-AF02-A8753FCA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62425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Двойной щелчок открывает наряд: просмотр, правка актуальной версии и Excel.</a:t>
            </a:r>
          </a:p>
        </p:txBody>
      </p:sp>
      <p:sp>
        <p:nvSpPr>
          <p:cNvPr id="11" name="Сеансы учитываются только для вошедших пользователей программы.">
            <a:extLst xmlns:a="http://schemas.openxmlformats.org/drawingml/2006/main">
              <a:ext uri="{FF2B5EF4-FFF2-40B4-BE49-F238E27FC236}">
                <a16:creationId xmlns:a16="http://schemas.microsoft.com/office/drawing/2014/main" id="{FE65752F-751F-41F8-967F-BC896164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Сеансы учитываются только для вошедших пользователей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4045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Аналитика по цехам и сотрудникам">
            <a:extLst xmlns:a="http://schemas.openxmlformats.org/drawingml/2006/main">
              <a:ext uri="{FF2B5EF4-FFF2-40B4-BE49-F238E27FC236}">
                <a16:creationId xmlns:a16="http://schemas.microsoft.com/office/drawing/2014/main" id="{09922C51-8E37-422E-AD4A-40C85007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Аналитика по цехам и сотрудникам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3ECCF3A9-8ACE-4252-95F3-523CD215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Выработка, часы и оплата">
            <a:extLst xmlns:a="http://schemas.openxmlformats.org/drawingml/2006/main">
              <a:ext uri="{FF2B5EF4-FFF2-40B4-BE49-F238E27FC236}">
                <a16:creationId xmlns:a16="http://schemas.microsoft.com/office/drawing/2014/main" id="{3CCC3084-1ACD-415A-8140-1C69921B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Выработка, часы и оплата</a:t>
            </a:r>
          </a:p>
          <a:p xmlns:a="http://schemas.openxmlformats.org/drawingml/2006/main">
            <a:pPr>
              <a:defRPr sz="27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 выбранный период</a:t>
            </a:r>
          </a:p>
        </p:txBody>
      </p:sp>
      <p:sp>
        <p:nvSpPr>
          <p:cNvPr id="5" name="Срезы по цеху, подразделению,">
            <a:extLst xmlns:a="http://schemas.openxmlformats.org/drawingml/2006/main">
              <a:ext uri="{FF2B5EF4-FFF2-40B4-BE49-F238E27FC236}">
                <a16:creationId xmlns:a16="http://schemas.microsoft.com/office/drawing/2014/main" id="{26EFBA58-54B8-438A-BC6D-C1B63B63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Срезы по цеху, подразделению,</a:t>
            </a:r>
          </a:p>
          <a:p xmlns:a="http://schemas.openxmlformats.org/drawingml/2006/main">
            <a:pPr>
              <a:defRPr sz="21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работе, мастеру и смене.</a:t>
            </a:r>
          </a:p>
        </p:txBody>
      </p:sp>
      <p:sp>
        <p:nvSpPr>
          <p:cNvPr id="6" name="Профиль сотрудника показывает">
            <a:extLst xmlns:a="http://schemas.openxmlformats.org/drawingml/2006/main">
              <a:ext uri="{FF2B5EF4-FFF2-40B4-BE49-F238E27FC236}">
                <a16:creationId xmlns:a16="http://schemas.microsoft.com/office/drawing/2014/main" id="{E44142D9-033F-4EC5-AD44-870FECD7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Профиль сотрудника показывает</a:t>
            </a:r>
          </a:p>
          <a:p xmlns:a="http://schemas.openxmlformats.org/drawingml/2006/main">
            <a:pPr>
              <a:defRPr sz="21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выполненные работы, Min–Max</a:t>
            </a:r>
          </a:p>
          <a:p xmlns:a="http://schemas.openxmlformats.org/drawingml/2006/main">
            <a:pPr>
              <a:defRPr sz="210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и частые подразделения.</a:t>
            </a:r>
          </a:p>
        </p:txBody>
      </p:sp>
      <p:sp>
        <p:nvSpPr>
          <p:cNvPr id="7" name="Доступ: Администратор,">
            <a:extLst xmlns:a="http://schemas.openxmlformats.org/drawingml/2006/main">
              <a:ext uri="{FF2B5EF4-FFF2-40B4-BE49-F238E27FC236}">
                <a16:creationId xmlns:a16="http://schemas.microsoft.com/office/drawing/2014/main" id="{6978A406-7294-4BBB-8852-073E4DB1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Доступ: Администратор,</a:t>
            </a:r>
          </a:p>
          <a:p xmlns:a="http://schemas.openxmlformats.org/drawingml/2006/main">
            <a:pPr>
              <a:defRPr sz="187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Бухгалтер и Экономист.</a:t>
            </a:r>
          </a:p>
        </p:txBody>
      </p:sp>
      <p:sp xmlns:a="http://schemas.openxmlformats.org/drawingml/2006/main">
        <p:nvSpPr>
          <p:cNvPr id="9" name="Профиль сотрудника"/>
          <p:cNvSpPr/>
          <p:nvPr/>
        </p:nvSpPr>
        <p:spPr>
          <a:xfrm>
            <a:off x="7333488" y="1325880"/>
            <a:ext cx="4050791" cy="4791456"/>
          </a:xfrm>
          <a:prstGeom prst="rect">
            <a:avLst/>
          </a:prstGeom>
          <a:solidFill>
            <a:srgbClr val="16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Профиль сотрудника"/>
          <p:cNvSpPr txBox="1"/>
          <p:nvPr/>
        </p:nvSpPr>
        <p:spPr>
          <a:xfrm>
            <a:off x="7534656" y="1545336"/>
            <a:ext cx="3648456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Профиль сотрудника</a:t>
            </a:r>
          </a:p>
        </p:txBody>
      </p:sp>
      <p:pic xmlns:a="http://schemas.openxmlformats.org/drawingml/2006/main" xmlns:r="http://schemas.openxmlformats.org/officeDocument/2006/relationships">
        <p:nvPicPr>
          <p:cNvPr id="11" name="Smart Order · 3D-профиль сотрудника" descr="Smart Order · 3D-профиль сотрудника; демонстрационные данны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2089506"/>
            <a:ext cx="3776472" cy="2395523"/>
          </a:xfrm>
          <a:prstGeom prst="rect">
            <a:avLst/>
          </a:prstGeom>
        </p:spPr>
      </p:pic>
      <p:sp xmlns:a="http://schemas.openxmlformats.org/drawingml/2006/main">
        <p:nvSpPr>
          <p:cNvPr id="12" name="Наряды · Часы работы"/>
          <p:cNvSpPr txBox="1"/>
          <p:nvPr/>
        </p:nvSpPr>
        <p:spPr>
          <a:xfrm>
            <a:off x="7571231" y="4773168"/>
            <a:ext cx="3474720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D3E4EE"/>
                </a:solidFill>
                <a:latin typeface="Arial"/>
              </a:rPr>
              <a:t>Наряды · Часы работы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D3E4EE"/>
                </a:solidFill>
                <a:latin typeface="Arial"/>
              </a:rPr>
              <a:t>ФИКС кг · ФАКТ часы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D3E4EE"/>
                </a:solidFill>
                <a:latin typeface="Arial"/>
              </a:rPr>
              <a:t>ФАКТ Оплата</a:t>
            </a:r>
          </a:p>
        </p:txBody>
      </p:sp>
      <p:sp xmlns:a="http://schemas.openxmlformats.org/drawingml/2006/main">
        <p:nvSpPr>
          <p:cNvPr id="13" name="Интерфейс на демонстрационных данных."/>
          <p:cNvSpPr txBox="1"/>
          <p:nvPr/>
        </p:nvSpPr>
        <p:spPr>
          <a:xfrm>
            <a:off x="649224" y="6419088"/>
            <a:ext cx="99669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594"/>
                </a:solidFill>
                <a:latin typeface="Arial"/>
              </a:rPr>
              <a:t>Интерфейс на демонстрационных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6645334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тчёты и экспорт в Excel">
            <a:extLst xmlns:a="http://schemas.openxmlformats.org/drawingml/2006/main">
              <a:ext uri="{FF2B5EF4-FFF2-40B4-BE49-F238E27FC236}">
                <a16:creationId xmlns:a16="http://schemas.microsoft.com/office/drawing/2014/main" id="{414BC853-100C-444F-896D-5D063B7E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Отчёты и экспорт в Excel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40618487-F0EB-416D-BEC4-03318141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Smart Order · аналитика и экспорт" descr="Smart Order · аналитика и экспорт; демонстрационные данны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679404"/>
            <a:ext cx="5742432" cy="3151718"/>
          </a:xfrm>
          <a:prstGeom prst="rect">
            <a:avLst/>
          </a:prstGeom>
        </p:spPr>
      </p:pic>
      <p:sp>
        <p:nvSpPr>
          <p:cNvPr id="4" name="Наряд">
            <a:extLst xmlns:a="http://schemas.openxmlformats.org/drawingml/2006/main">
              <a:ext uri="{FF2B5EF4-FFF2-40B4-BE49-F238E27FC236}">
                <a16:creationId xmlns:a16="http://schemas.microsoft.com/office/drawing/2014/main" id="{D3CFA87F-75D1-46E5-961C-B57E525B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859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Наряд</a:t>
            </a:r>
          </a:p>
        </p:txBody>
      </p:sp>
      <p:sp>
        <p:nvSpPr>
          <p:cNvPr id="5" name="Выгрузка выбранной версии из списка или прямо из окна редактирования.">
            <a:extLst xmlns:a="http://schemas.openxmlformats.org/drawingml/2006/main">
              <a:ext uri="{FF2B5EF4-FFF2-40B4-BE49-F238E27FC236}">
                <a16:creationId xmlns:a16="http://schemas.microsoft.com/office/drawing/2014/main" id="{407CD89F-AA2B-4445-8B62-B66FD90A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Выгрузка выбранной версии из списка или прямо из окна редактирования.</a:t>
            </a:r>
          </a:p>
        </p:txBody>
      </p:sp>
      <p:sp>
        <p:nvSpPr>
          <p:cNvPr id="6" name="В файле — сотрудники, работы,">
            <a:extLst xmlns:a="http://schemas.openxmlformats.org/drawingml/2006/main">
              <a:ext uri="{FF2B5EF4-FFF2-40B4-BE49-F238E27FC236}">
                <a16:creationId xmlns:a16="http://schemas.microsoft.com/office/drawing/2014/main" id="{A44D7291-41D2-4737-AEDA-3F628FCC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В файле — сотрудники, работы,</a:t>
            </a:r>
          </a:p>
          <a:p xmlns:a="http://schemas.openxmlformats.org/drawingml/2006/main">
            <a:pPr>
              <a:defRPr sz="1950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объёмы, часы и ФАКТ Оплата.</a:t>
            </a:r>
          </a:p>
        </p:txBody>
      </p:sp>
      <p:sp>
        <p:nvSpPr>
          <p:cNvPr id="7" name="Аналитика">
            <a:extLst xmlns:a="http://schemas.openxmlformats.org/drawingml/2006/main">
              <a:ext uri="{FF2B5EF4-FFF2-40B4-BE49-F238E27FC236}">
                <a16:creationId xmlns:a16="http://schemas.microsoft.com/office/drawing/2014/main" id="{B3E3ADBE-D2E8-4233-84DA-4A86359A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577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8" name="Отчёт по фильтрам: таблицы, детализация и редактируемые диаграммы Excel.">
            <a:extLst xmlns:a="http://schemas.openxmlformats.org/drawingml/2006/main">
              <a:ext uri="{FF2B5EF4-FFF2-40B4-BE49-F238E27FC236}">
                <a16:creationId xmlns:a16="http://schemas.microsoft.com/office/drawing/2014/main" id="{85A71030-567E-485A-81A7-A6816C8C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Отчёт по фильтрам: таблицы, детализация и редактируемые диаграммы Excel.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612648" y="5367528"/>
            <a:ext cx="5742432" cy="512064"/>
          </a:xfrm>
          <a:prstGeom prst="rect">
            <a:avLst/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XLSX  ·  Таблицы  ·  Детализация  ·  Графики"/>
          <p:cNvSpPr txBox="1"/>
          <p:nvPr/>
        </p:nvSpPr>
        <p:spPr>
          <a:xfrm>
            <a:off x="777240" y="5522976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6B9C"/>
                </a:solidFill>
                <a:latin typeface="Arial"/>
              </a:rPr>
              <a:t>XLSX  ·  Таблицы  ·  Детализация  ·  Графики</a:t>
            </a:r>
          </a:p>
        </p:txBody>
      </p:sp>
      <p:sp xmlns:a="http://schemas.openxmlformats.org/drawingml/2006/main">
        <p:nvSpPr>
          <p:cNvPr id="13" name="Интерфейс на демонстрационных данных."/>
          <p:cNvSpPr txBox="1"/>
          <p:nvPr/>
        </p:nvSpPr>
        <p:spPr>
          <a:xfrm>
            <a:off x="649224" y="6419088"/>
            <a:ext cx="99669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18594"/>
                </a:solidFill>
                <a:latin typeface="Arial"/>
              </a:rPr>
              <a:t>Интерфейс на демонстрационных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488234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Условия работы программы">
            <a:extLst xmlns:a="http://schemas.openxmlformats.org/drawingml/2006/main">
              <a:ext uri="{FF2B5EF4-FFF2-40B4-BE49-F238E27FC236}">
                <a16:creationId xmlns:a16="http://schemas.microsoft.com/office/drawing/2014/main" id="{24025939-4718-47FE-BED3-48470220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Условия работы программы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F6B01E11-A7BC-4BA7-AB86-12917CAB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1859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1859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Windows и локальный интерфейс">
            <a:extLst xmlns:a="http://schemas.openxmlformats.org/drawingml/2006/main">
              <a:ext uri="{FF2B5EF4-FFF2-40B4-BE49-F238E27FC236}">
                <a16:creationId xmlns:a16="http://schemas.microsoft.com/office/drawing/2014/main" id="{42AA156C-C250-4DF5-AB8A-083234C8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Windows и локальный интерфейс</a:t>
            </a:r>
          </a:p>
        </p:txBody>
      </p:sp>
      <p:sp>
        <p:nvSpPr>
          <p:cNvPr id="4" name="На ПК запускается SmartOrder.exe; интерфейс загружается в локальный кеш.">
            <a:extLst xmlns:a="http://schemas.openxmlformats.org/drawingml/2006/main">
              <a:ext uri="{FF2B5EF4-FFF2-40B4-BE49-F238E27FC236}">
                <a16:creationId xmlns:a16="http://schemas.microsoft.com/office/drawing/2014/main" id="{661D7505-1591-4F62-BC1E-7FBDC6D9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На ПК запускается SmartOrder.exe; интерфейс загружается в локальный кеш.</a:t>
            </a:r>
          </a:p>
        </p:txBody>
      </p:sp>
      <p:sp>
        <p:nvSpPr>
          <p:cNvPr id="5" name="Общий сетевой каталог">
            <a:extLst xmlns:a="http://schemas.openxmlformats.org/drawingml/2006/main">
              <a:ext uri="{FF2B5EF4-FFF2-40B4-BE49-F238E27FC236}">
                <a16:creationId xmlns:a16="http://schemas.microsoft.com/office/drawing/2014/main" id="{B0792A53-0C9A-4608-AFB3-B9A043AE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Общий сетевой каталог</a:t>
            </a:r>
          </a:p>
        </p:txBody>
      </p:sp>
      <p:sp>
        <p:nvSpPr>
          <p:cNvPr id="6" name="Базы, файлы нарядов и новости хранятся на сервере. Нужны права чтения и записи.">
            <a:extLst xmlns:a="http://schemas.openxmlformats.org/drawingml/2006/main">
              <a:ext uri="{FF2B5EF4-FFF2-40B4-BE49-F238E27FC236}">
                <a16:creationId xmlns:a16="http://schemas.microsoft.com/office/drawing/2014/main" id="{C8E9308A-C4FC-44D8-BA07-B162D8C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Базы, файлы нарядов и новости хранятся на сервере. Нужны права чтения и записи.</a:t>
            </a:r>
          </a:p>
        </p:txBody>
      </p:sp>
      <p:sp>
        <p:nvSpPr>
          <p:cNvPr id="7" name="Установка и резервные копии">
            <a:extLst xmlns:a="http://schemas.openxmlformats.org/drawingml/2006/main">
              <a:ext uri="{FF2B5EF4-FFF2-40B4-BE49-F238E27FC236}">
                <a16:creationId xmlns:a16="http://schemas.microsoft.com/office/drawing/2014/main" id="{427073E0-F249-45E4-BD9C-6960A4F3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Установка и резервные копии</a:t>
            </a:r>
          </a:p>
        </p:txBody>
      </p:sp>
      <p:sp>
        <p:nvSpPr>
          <p:cNvPr id="8" name="Установщик создаёт ярлык и открытие .sorder. Перед обновлением сохраняют базы.">
            <a:extLst xmlns:a="http://schemas.openxmlformats.org/drawingml/2006/main">
              <a:ext uri="{FF2B5EF4-FFF2-40B4-BE49-F238E27FC236}">
                <a16:creationId xmlns:a16="http://schemas.microsoft.com/office/drawing/2014/main" id="{0709C8A0-841A-4B8C-ACC3-D8227A31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Установщик создаёт ярлык и открытие .sorder. Перед обновлением сохраняют базы.</a:t>
            </a:r>
          </a:p>
        </p:txBody>
      </p:sp>
      <p:sp>
        <p:nvSpPr>
          <p:cNvPr id="9" name="Поддержка и новости">
            <a:extLst xmlns:a="http://schemas.openxmlformats.org/drawingml/2006/main">
              <a:ext uri="{FF2B5EF4-FFF2-40B4-BE49-F238E27FC236}">
                <a16:creationId xmlns:a16="http://schemas.microsoft.com/office/drawing/2014/main" id="{C8C8C51D-0760-46EF-BBF2-35E82E9E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B9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B9C"/>
                </a:solidFill>
                <a:latin typeface="Arial"/>
                <a:ea typeface="Arial"/>
                <a:cs typeface="Arial"/>
              </a:rPr>
              <a:t>Поддержка и новости</a:t>
            </a:r>
          </a:p>
        </p:txBody>
      </p:sp>
      <p:sp>
        <p:nvSpPr>
          <p:cNvPr id="10" name="В «О приложении» — справка и новости. Текст читается из UPDATE_NEWS.txt.">
            <a:extLst xmlns:a="http://schemas.openxmlformats.org/drawingml/2006/main">
              <a:ext uri="{FF2B5EF4-FFF2-40B4-BE49-F238E27FC236}">
                <a16:creationId xmlns:a16="http://schemas.microsoft.com/office/drawing/2014/main" id="{0342A185-EE83-46AB-B950-83169335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6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9"/>
                </a:solidFill>
                <a:latin typeface="Arial"/>
                <a:ea typeface="Arial"/>
                <a:cs typeface="Arial"/>
              </a:rPr>
              <a:t>В «О приложении» — справка и новости. Текст читается из UPDATE_NEWS.txt.</a:t>
            </a:r>
          </a:p>
        </p:txBody>
      </p:sp>
    </p:spTree>
    <p:extLst>
      <p:ext uri="{BB962C8B-B14F-4D97-AF65-F5344CB8AC3E}">
        <p14:creationId xmlns:p14="http://schemas.microsoft.com/office/powerpoint/2010/main" val="968827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Smart Order</dc:creator>
  <lastModifiedBy>Smart Order</lastModifiedBy>
  <dc:title>Smart Order — Формирование нарядов на работу</dc:title>
  <dcterms:created xsi:type="dcterms:W3CDTF">2026-10-13T09:28:16Z</dcterms:created>
  <dcterms:modified xsi:type="dcterms:W3CDTF">2026-10-13T09:28:16Z</dcterms:modified>
  <dc:subject>Возможности, цеха, совместная работа, аналитика и отчёты</dc:subject>
  <keywords>Smart Order, наряды, цеха, аналитика, Excel</keywords>
  <dc:description>Презентация адаптирована по оформлению предоставленного образца. Интерфейс показан на демонстрационных данных.</dc:description>
</coreProperties>
</file>